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</p:sldIdLst>
  <p:notesMasterIdLst>
    <p:notesMasterId r:id="rId7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notesMaster" Target="notesMasters/notesMaster1.xml"/><Relationship Id="rId75" Type="http://schemas.openxmlformats.org/officeDocument/2006/relationships/presProps" Target="presProps.xml"/><Relationship Id="rId76" Type="http://schemas.openxmlformats.org/officeDocument/2006/relationships/viewProps" Target="viewProps.xml"/><Relationship Id="rId77" Type="http://schemas.openxmlformats.org/officeDocument/2006/relationships/theme" Target="theme/theme1.xml"/><Relationship Id="rId7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526280"/>
            <a:ext cx="9144000" cy="61722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2344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EDITION 2  ·  EXPLANATION-FIRST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69164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02920" y="468172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· Slash commands · HTML/CSS/JS/Python · Git · GitHub · Full-stack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2920" y="43434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 Shailesh S Wadhawaniya  ·  A StrideX Institute Program, in partnership with Wadhawaniya &amp; Co.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deck covers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82296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96012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63040" y="96012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features &amp; how the agent works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463040"/>
            <a:ext cx="82296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55448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63040" y="155448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Slash commands — what / why / when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057400"/>
            <a:ext cx="82296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14884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63040" y="214884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CLAUDE.md, plan mode, permissions, skills, MCP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" y="2651760"/>
            <a:ext cx="82296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74320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63040" y="274320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 · CSS · JavaScript · Python foundations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57200" y="3246120"/>
            <a:ext cx="82296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33756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63040" y="33375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+ GitHub complete beginner path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57200" y="3840480"/>
            <a:ext cx="82296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931920"/>
            <a:ext cx="640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63040" y="393192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Full-stack build path, deploy, demo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Mindset with mechanisms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· build · verify with understanding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— precise definition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describe outcomes in natural language.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edits files, runs tools, and iterates.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decide, test, and steer when it is wrong.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2743200"/>
            <a:ext cx="8229600" cy="1463040"/>
          </a:xfrm>
          <a:prstGeom prst="roundRect">
            <a:avLst>
              <a:gd name="adj" fmla="val 5000"/>
            </a:avLst>
          </a:prstGeom>
          <a:solidFill>
            <a:srgbClr val="FBF3D8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306324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magic: AI can be wrong. Clear instructions win.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Understanding app parts makes you a better director.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role vs Claude Code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2743200" cy="34747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10972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own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24688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&amp; user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“done” means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testing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decisions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46120" y="914400"/>
            <a:ext cx="2743200" cy="3474720"/>
          </a:xfrm>
          <a:prstGeom prst="roundRect">
            <a:avLst>
              <a:gd name="adj" fmla="val 3333"/>
            </a:avLst>
          </a:prstGeom>
          <a:solidFill>
            <a:srgbClr val="0B3D2E"/>
          </a:solidFill>
          <a:ln/>
        </p:spPr>
      </p:sp>
      <p:sp>
        <p:nvSpPr>
          <p:cNvPr id="9" name="Text 7"/>
          <p:cNvSpPr/>
          <p:nvPr/>
        </p:nvSpPr>
        <p:spPr>
          <a:xfrm>
            <a:off x="3383280" y="10972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owns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383280" y="1645920"/>
            <a:ext cx="24688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Writing most code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Multi-file edits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Running commands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Searching project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Drafting plans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26480" y="914400"/>
            <a:ext cx="2743200" cy="347472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6263640" y="109728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263640" y="1645920"/>
            <a:ext cx="24688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software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history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demo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learning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Shipped URL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Full-stack = all the layers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1371600"/>
            <a:ext cx="2057400" cy="25603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7373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02920" y="237744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users see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 · CSS · JS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560320" y="1371600"/>
            <a:ext cx="2057400" cy="2560320"/>
          </a:xfrm>
          <a:prstGeom prst="roundRect">
            <a:avLst>
              <a:gd name="adj" fmla="val 4444"/>
            </a:avLst>
          </a:prstGeom>
          <a:solidFill>
            <a:srgbClr val="0B3D2E"/>
          </a:solidFill>
          <a:ln/>
        </p:spPr>
      </p:sp>
      <p:sp>
        <p:nvSpPr>
          <p:cNvPr id="9" name="Text 7"/>
          <p:cNvSpPr/>
          <p:nvPr/>
        </p:nvSpPr>
        <p:spPr>
          <a:xfrm>
            <a:off x="2560320" y="17373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697480" y="237744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 logic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/ Node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54880" y="1371600"/>
            <a:ext cx="2057400" cy="25603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17373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892040" y="237744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Lasting memory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/ Postgres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949440" y="1371600"/>
            <a:ext cx="2057400" cy="2560320"/>
          </a:xfrm>
          <a:prstGeom prst="roundRect">
            <a:avLst>
              <a:gd name="adj" fmla="val 4444"/>
            </a:avLst>
          </a:prstGeom>
          <a:solidFill>
            <a:srgbClr val="0B3D2E"/>
          </a:solidFill>
          <a:ln/>
        </p:spPr>
      </p:sp>
      <p:sp>
        <p:nvSpPr>
          <p:cNvPr id="15" name="Text 13"/>
          <p:cNvSpPr/>
          <p:nvPr/>
        </p:nvSpPr>
        <p:spPr>
          <a:xfrm>
            <a:off x="6949440" y="173736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086600" y="2377440"/>
            <a:ext cx="17830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access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 + URL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B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Terminal foundations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command means something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Essential commands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822960"/>
            <a:ext cx="822960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9144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pwd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9144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 working directory — where am I?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822960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5087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ls / dir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926080" y="1508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files in this folder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822960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1031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name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926080" y="21031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 into a folder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2606040"/>
            <a:ext cx="822960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6974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..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926080" y="2697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up one folder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200400"/>
            <a:ext cx="822960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2918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mkdir name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926080" y="32918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a new folder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3794760"/>
            <a:ext cx="822960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88620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926080" y="3886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Claude Code in this folder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 &amp; “command not found”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shell finds programs using PATH folders.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claude is installed but not on PATH → command not found.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8229600" cy="1920240"/>
          </a:xfrm>
          <a:prstGeom prst="roundRect">
            <a:avLst>
              <a:gd name="adj" fmla="val 3810"/>
            </a:avLst>
          </a:prstGeom>
          <a:solidFill>
            <a:srgbClr val="1E2A32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2423160"/>
            <a:ext cx="79095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often after install — then open a NEW terminal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 PATH="$HOME/.local/bin:$PATH"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--version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doctor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C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— how it works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loop · context · install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just chat — an agent in your project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and searches many project files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Creates and edits files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shell commands (install, test, server)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Follows CLAUDE.md + skills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use MCP tools when configured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Loops: try → observe → fix → continue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agent loop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1645920"/>
            <a:ext cx="164592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17830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228600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task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context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057400" y="1645920"/>
            <a:ext cx="164592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2057400" y="17830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148840" y="228600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tools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 / run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840480" y="1645920"/>
            <a:ext cx="1645920" cy="1645920"/>
          </a:xfrm>
          <a:prstGeom prst="roundRect">
            <a:avLst>
              <a:gd name="adj" fmla="val 5556"/>
            </a:avLst>
          </a:prstGeom>
          <a:solidFill>
            <a:srgbClr val="0B3D2E"/>
          </a:solidFill>
          <a:ln/>
        </p:spPr>
      </p:sp>
      <p:sp>
        <p:nvSpPr>
          <p:cNvPr id="12" name="Text 10"/>
          <p:cNvSpPr/>
          <p:nvPr/>
        </p:nvSpPr>
        <p:spPr>
          <a:xfrm>
            <a:off x="3840480" y="17830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931920" y="228600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Permission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needed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23560" y="1645920"/>
            <a:ext cx="164592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5623560" y="17830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715000" y="228600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406640" y="1645920"/>
            <a:ext cx="1645920" cy="164592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7406640" y="17830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498080" y="228600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stop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stops when work “looks done” — so YOU define proof (run app / tests).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window = scarce resource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28016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Holds conversation + file reads + command output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full → quality drops (forgets, more mistakes)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major task per session when possible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/clear for a new task · /compact to free space on same task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CLAUDE.md short · use @filename for exact files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 (official)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macOS / Linux / WSL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18872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1E2A32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1325880"/>
            <a:ext cx="7909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-fsSL https://claude.ai/install.sh | bash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011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Windows PowerShell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331720"/>
            <a:ext cx="8229600" cy="640080"/>
          </a:xfrm>
          <a:prstGeom prst="roundRect">
            <a:avLst>
              <a:gd name="adj" fmla="val 11429"/>
            </a:avLst>
          </a:prstGeom>
          <a:solidFill>
            <a:srgbClr val="1E2A32"/>
          </a:solidFill>
          <a:ln/>
        </p:spPr>
      </p:sp>
      <p:sp>
        <p:nvSpPr>
          <p:cNvPr id="10" name="Text 8"/>
          <p:cNvSpPr/>
          <p:nvPr/>
        </p:nvSpPr>
        <p:spPr>
          <a:xfrm>
            <a:off x="621792" y="2468880"/>
            <a:ext cx="7909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irm https://claude.ai/install.ps1 | iex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2461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Pro/Max/Team (or Console). Free Claude.ai alone is not enough.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Verify: claude --version  ·  claude doctor  ·  cd project &amp;&amp; claude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encyclopedia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· permissions · CLAUDE.md · skills · MCP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Permission modes (Shift+Tab)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0698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834640" y="10698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Asks before many actions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83680" y="106984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HERE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73736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834640" y="1938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only — no source edits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19385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big work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0604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80720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acceptEdits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834640" y="28072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 file edits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83680" y="280720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you trust review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DEDEC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67588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44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bypass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2834640" y="36758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Skips checks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583680" y="367588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on class laptops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 — highest leverage habit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explores and writes a plan without editing source until you approve.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Enter: /plan   or   Shift+Tab until Plan.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2011680"/>
            <a:ext cx="8229600" cy="1645920"/>
          </a:xfrm>
          <a:prstGeom prst="roundRect">
            <a:avLst>
              <a:gd name="adj" fmla="val 4444"/>
            </a:avLst>
          </a:prstGeom>
          <a:solidFill>
            <a:srgbClr val="1E2A32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2148840"/>
            <a:ext cx="7909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/plan Add login with email/password.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 security concerns. Ask clarifying questions.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 not write code until I approve.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assumptions are free in a plan — expensive in messy code.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 = project memory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Special file Claude reads at session start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starter with /init — then shorten it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Put: run commands, rules, gotchas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Don’t put: essays, huge docs Claude can infer from code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removing a line wouldn’t cause mistakes — delete it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vs CLAUDE.md vs slash commands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2697480" cy="411480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6" name="Text 4"/>
          <p:cNvSpPr/>
          <p:nvPr/>
        </p:nvSpPr>
        <p:spPr>
          <a:xfrm>
            <a:off x="530352" y="93268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0" y="868680"/>
            <a:ext cx="2697480" cy="411480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8" name="Text 6"/>
          <p:cNvSpPr/>
          <p:nvPr/>
        </p:nvSpPr>
        <p:spPr>
          <a:xfrm>
            <a:off x="3273552" y="93268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Loaded when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943600" y="868680"/>
            <a:ext cx="2697480" cy="411480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10" name="Text 8"/>
          <p:cNvSpPr/>
          <p:nvPr/>
        </p:nvSpPr>
        <p:spPr>
          <a:xfrm>
            <a:off x="6016752" y="93268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for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325880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530352" y="139903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0" y="1325880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3273552" y="139903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session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43600" y="1325880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6016752" y="139903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Stable project rules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1801368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1874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(SKILL.md)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00400" y="1801368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20" name="Text 18"/>
          <p:cNvSpPr/>
          <p:nvPr/>
        </p:nvSpPr>
        <p:spPr>
          <a:xfrm>
            <a:off x="3273552" y="1874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relevant /name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943600" y="1801368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22" name="Text 20"/>
          <p:cNvSpPr/>
          <p:nvPr/>
        </p:nvSpPr>
        <p:spPr>
          <a:xfrm>
            <a:off x="6016752" y="1874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Procedures &amp; checklists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2276856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530352" y="235000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Slash /command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200400" y="2276856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3273552" y="235000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you type it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943600" y="2276856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6016752" y="235000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controls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features to know by name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11480" y="914400"/>
            <a:ext cx="41148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972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@file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Claude at exact files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914400"/>
            <a:ext cx="41148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4937760" y="10972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937760" y="14173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Paste screenshots / mockups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11480" y="2011680"/>
            <a:ext cx="41148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21945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Subagents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94360" y="25146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Delegate focused side tasks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754880" y="2011680"/>
            <a:ext cx="41148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4937760" y="21945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937760" y="25146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Plugins to external tools/data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11480" y="3108960"/>
            <a:ext cx="41148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32918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/rewind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94360" y="36118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Undo a bad direction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754880" y="3108960"/>
            <a:ext cx="41148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4937760" y="32918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--continue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4937760" y="36118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Resume last session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Slash commands encyclopedia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· why · when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Essential — Week 1–2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868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530352" y="978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/help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30352" y="1325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help  ·  You’re lost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54880" y="868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4919472" y="978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/login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9472" y="1325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Authenticate  ·  First run / auth errors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011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530352" y="2121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/doctor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30352" y="2468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checkup  ·  Install feels broken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54880" y="2011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4919472" y="2121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/init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19472" y="2468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Starter CLAUDE.md  ·  New project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3154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3264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/plan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30352" y="3611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before edit  ·  Any real feature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54880" y="3154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4919472" y="3264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/clear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919472" y="3611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 conversation  ·  Switching tasks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Essential — daily workflow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868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530352" y="978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/compact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30352" y="1325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Summarize context  ·  Long same task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54880" y="868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4919472" y="978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/diff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9472" y="1325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file changes  ·  Before commit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011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530352" y="2121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/rewind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30352" y="2468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 back  ·  Wrong direction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54880" y="2011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4919472" y="2121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/resume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19472" y="2468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Old sessions  ·  Next day continue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3154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3264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/permissions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30352" y="3611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rules  ·  Too many prompts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54880" y="3154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4919472" y="3264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/config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919472" y="3611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Settings  ·  Model / theme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&amp; advanced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868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530352" y="978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/code-review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30352" y="1325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the diff  ·  Before demo/merge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54880" y="868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4919472" y="978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/security-review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9472" y="1325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check  ·  Before deploy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65760" y="2011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530352" y="2121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/memory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30352" y="2468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 lasting rules  ·  Claude forgets rules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54880" y="2011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4919472" y="2121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/context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919472" y="2468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usage  ·  Quality dropped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3154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3264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/mcp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30352" y="3611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tools  ·  After MCP setup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54880" y="3154680"/>
            <a:ext cx="416052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4919472" y="326440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6B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/btw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919472" y="36118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 question  ·  Quick fact mid-task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dive: /plan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What: Enter plan mode (optionally with a task).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Why: Separates design from coding; wrong ideas are cheap.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When: New features, refactors, multi-file work, unfamiliar code.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377440"/>
            <a:ext cx="8229600" cy="1645920"/>
          </a:xfrm>
          <a:prstGeom prst="roundRect">
            <a:avLst>
              <a:gd name="adj" fmla="val 4444"/>
            </a:avLst>
          </a:prstGeom>
          <a:solidFill>
            <a:srgbClr val="1E2A32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2514600"/>
            <a:ext cx="7909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/plan Build a tip calculator as one HTML file.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 UI, edge cases, and how I will test.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 not write code until I approve.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dive: /clear vs /compact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402336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754880" y="1005840"/>
            <a:ext cx="4023360" cy="3200400"/>
          </a:xfrm>
          <a:prstGeom prst="roundRect">
            <a:avLst>
              <a:gd name="adj" fmla="val 2857"/>
            </a:avLst>
          </a:prstGeom>
          <a:solidFill>
            <a:srgbClr val="0B3D2E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/clear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94360" y="1828800"/>
            <a:ext cx="3566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Empty conversation.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Old chat still in /resume.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when starting 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 task.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98348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/compact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983480" y="1828800"/>
            <a:ext cx="3566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Summarizes chat to free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 but continues work.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when SAME task,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is full.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workflow to chant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286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3D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Explore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606040" y="18288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0B3D2E"/>
          </a:solidFill>
          <a:ln/>
        </p:spPr>
      </p:sp>
      <p:sp>
        <p:nvSpPr>
          <p:cNvPr id="8" name="Text 6"/>
          <p:cNvSpPr/>
          <p:nvPr/>
        </p:nvSpPr>
        <p:spPr>
          <a:xfrm>
            <a:off x="2606040" y="2286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Plan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754880" y="18288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0" y="2286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3D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Implement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903720" y="18288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0B3D2E"/>
          </a:solidFill>
          <a:ln/>
        </p:spPr>
      </p:sp>
      <p:sp>
        <p:nvSpPr>
          <p:cNvPr id="12" name="Text 10"/>
          <p:cNvSpPr/>
          <p:nvPr/>
        </p:nvSpPr>
        <p:spPr>
          <a:xfrm>
            <a:off x="6903720" y="22860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Commit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 Claude Code best practices — teach as muscle memory.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F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craft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formula · bug reports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 vs good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4023360" cy="3200400"/>
          </a:xfrm>
          <a:prstGeom prst="roundRect">
            <a:avLst>
              <a:gd name="adj" fmla="val 2857"/>
            </a:avLst>
          </a:prstGeom>
          <a:solidFill>
            <a:srgbClr val="FDEDEC"/>
          </a:solidFill>
          <a:ln/>
        </p:spPr>
      </p:sp>
      <p:sp>
        <p:nvSpPr>
          <p:cNvPr id="6" name="Shape 4"/>
          <p:cNvSpPr/>
          <p:nvPr/>
        </p:nvSpPr>
        <p:spPr>
          <a:xfrm>
            <a:off x="4754880" y="1005840"/>
            <a:ext cx="4023360" cy="3200400"/>
          </a:xfrm>
          <a:prstGeom prst="roundRect">
            <a:avLst>
              <a:gd name="adj" fmla="val 2857"/>
            </a:avLst>
          </a:prstGeom>
          <a:solidFill>
            <a:srgbClr val="E8F5E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44B4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94360" y="1828800"/>
            <a:ext cx="3566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“make a nice app”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“fix everything”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“make UI modern”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8348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983480" y="1828800"/>
            <a:ext cx="3566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 + rules +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objects + musts +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 + style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Symptom, expected,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actual, error text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formula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9144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325880"/>
            <a:ext cx="594360" cy="59436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41732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25880" y="12801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25880" y="17373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Outcome?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46120" y="9144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3429000" y="1325880"/>
            <a:ext cx="594360" cy="59436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12" name="Text 10"/>
          <p:cNvSpPr/>
          <p:nvPr/>
        </p:nvSpPr>
        <p:spPr>
          <a:xfrm>
            <a:off x="3429000" y="141732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206240" y="12801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206240" y="17373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Constraints?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26480" y="91440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6309360" y="1325880"/>
            <a:ext cx="594360" cy="59436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17" name="Text 15"/>
          <p:cNvSpPr/>
          <p:nvPr/>
        </p:nvSpPr>
        <p:spPr>
          <a:xfrm>
            <a:off x="6309360" y="141732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086600" y="12801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Objects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86600" y="173736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Screens/data?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65760" y="26517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3063240"/>
            <a:ext cx="594360" cy="59436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15468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325880" y="30175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Musts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325880" y="34747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Acceptance?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46120" y="26517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3429000" y="3063240"/>
            <a:ext cx="594360" cy="59436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27" name="Text 25"/>
          <p:cNvSpPr/>
          <p:nvPr/>
        </p:nvSpPr>
        <p:spPr>
          <a:xfrm>
            <a:off x="3429000" y="315468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4206240" y="30175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4206240" y="34747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verify?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126480" y="2651760"/>
            <a:ext cx="274320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6309360" y="3063240"/>
            <a:ext cx="594360" cy="59436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32" name="Text 30"/>
          <p:cNvSpPr/>
          <p:nvPr/>
        </p:nvSpPr>
        <p:spPr>
          <a:xfrm>
            <a:off x="6309360" y="3154680"/>
            <a:ext cx="594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086600" y="30175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Tone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7086600" y="34747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Look/feel?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 report template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3200400"/>
          </a:xfrm>
          <a:prstGeom prst="roundRect">
            <a:avLst>
              <a:gd name="adj" fmla="val 2286"/>
            </a:avLst>
          </a:prstGeom>
          <a:solidFill>
            <a:srgbClr val="1E2A32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143000"/>
            <a:ext cx="790956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Bug report: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Environment: OS, browser, how I start the app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Steps I took: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Expected: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Actual: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 text: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Please find ROOT CAUSE, fix, re-verify, explain simply.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G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web works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· backend · database · API · deploy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Restaurant model (precise)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1280160"/>
            <a:ext cx="1645920" cy="27432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347472" y="1554480"/>
            <a:ext cx="1499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Dining room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47472" y="2286000"/>
            <a:ext cx="1499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47472" y="3108960"/>
            <a:ext cx="1499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in browser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011680" y="1280160"/>
            <a:ext cx="1645920" cy="27432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2084832" y="1554480"/>
            <a:ext cx="1499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Kitchen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084832" y="2286000"/>
            <a:ext cx="1499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084832" y="3108960"/>
            <a:ext cx="1499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logic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49040" y="1280160"/>
            <a:ext cx="1645920" cy="2743200"/>
          </a:xfrm>
          <a:prstGeom prst="roundRect">
            <a:avLst>
              <a:gd name="adj" fmla="val 4444"/>
            </a:avLst>
          </a:prstGeom>
          <a:solidFill>
            <a:srgbClr val="0B3D2E"/>
          </a:solidFill>
          <a:ln/>
        </p:spPr>
      </p:sp>
      <p:sp>
        <p:nvSpPr>
          <p:cNvPr id="14" name="Text 12"/>
          <p:cNvSpPr/>
          <p:nvPr/>
        </p:nvSpPr>
        <p:spPr>
          <a:xfrm>
            <a:off x="3822192" y="1554480"/>
            <a:ext cx="1499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Pantry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822192" y="2286000"/>
            <a:ext cx="1499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822192" y="3108960"/>
            <a:ext cx="1499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Stored data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0" y="1280160"/>
            <a:ext cx="1645920" cy="27432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5559552" y="1554480"/>
            <a:ext cx="1499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Waiter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559552" y="2286000"/>
            <a:ext cx="1499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559552" y="3108960"/>
            <a:ext cx="1499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messages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223760" y="1280160"/>
            <a:ext cx="1645920" cy="274320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7296912" y="1554480"/>
            <a:ext cx="14996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day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296912" y="2286000"/>
            <a:ext cx="1499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296912" y="3108960"/>
            <a:ext cx="1499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URL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a website — request flow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enter a URL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DNS finds the server address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requests the page (HTTPS)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returns HTML (+ CSS/JS links)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renders structure, style, behavior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Further clicks may call APIs for data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H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 — structure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Tags · attributes · forms · semantics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 is markup (not full programming)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 labels parts of a document so the browser knows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a heading, paragraph, link, image, button, form…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8229600" cy="1737360"/>
          </a:xfrm>
          <a:prstGeom prst="roundRect">
            <a:avLst>
              <a:gd name="adj" fmla="val 4211"/>
            </a:avLst>
          </a:prstGeom>
          <a:solidFill>
            <a:srgbClr val="1E2A32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2423160"/>
            <a:ext cx="79095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&lt;p class="intro"&gt;Hello world&lt;/p&gt;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opening tag + attribute + content + closing tag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skeleton you must recognize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8229600" cy="3108960"/>
          </a:xfrm>
          <a:prstGeom prst="roundRect">
            <a:avLst>
              <a:gd name="adj" fmla="val 2353"/>
            </a:avLst>
          </a:prstGeom>
          <a:solidFill>
            <a:srgbClr val="1E2A32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188720"/>
            <a:ext cx="790956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&lt;!DOCTYPE html&gt;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&lt;html lang="en"&gt;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&lt;head&gt; title, meta, CSS links &lt;/head&gt;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&lt;body&gt; visible content + scripts &lt;/body&gt;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&lt;/html&gt;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Essential tags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2697480" cy="411480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6" name="Text 4"/>
          <p:cNvSpPr/>
          <p:nvPr/>
        </p:nvSpPr>
        <p:spPr>
          <a:xfrm>
            <a:off x="530352" y="93268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Tag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0" y="868680"/>
            <a:ext cx="2697480" cy="411480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8" name="Text 6"/>
          <p:cNvSpPr/>
          <p:nvPr/>
        </p:nvSpPr>
        <p:spPr>
          <a:xfrm>
            <a:off x="3273552" y="93268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943600" y="868680"/>
            <a:ext cx="2697480" cy="411480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10" name="Text 8"/>
          <p:cNvSpPr/>
          <p:nvPr/>
        </p:nvSpPr>
        <p:spPr>
          <a:xfrm>
            <a:off x="6016752" y="93268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325880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530352" y="139903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h1–h6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0" y="1325880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3273552" y="139903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Headings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43600" y="1325880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6016752" y="139903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main h1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1801368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1874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00400" y="1801368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20" name="Text 18"/>
          <p:cNvSpPr/>
          <p:nvPr/>
        </p:nvSpPr>
        <p:spPr>
          <a:xfrm>
            <a:off x="3273552" y="1874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943600" y="1801368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22" name="Text 20"/>
          <p:cNvSpPr/>
          <p:nvPr/>
        </p:nvSpPr>
        <p:spPr>
          <a:xfrm>
            <a:off x="6016752" y="1874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href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2276856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530352" y="235000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img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200400" y="2276856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3273552" y="235000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943600" y="2276856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6016752" y="235000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src + alt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2752344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30" name="Text 28"/>
          <p:cNvSpPr/>
          <p:nvPr/>
        </p:nvSpPr>
        <p:spPr>
          <a:xfrm>
            <a:off x="530352" y="2825496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form/input/label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200400" y="2752344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32" name="Text 30"/>
          <p:cNvSpPr/>
          <p:nvPr/>
        </p:nvSpPr>
        <p:spPr>
          <a:xfrm>
            <a:off x="3273552" y="2825496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entry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943600" y="2752344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34" name="Text 32"/>
          <p:cNvSpPr/>
          <p:nvPr/>
        </p:nvSpPr>
        <p:spPr>
          <a:xfrm>
            <a:off x="6016752" y="2825496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labels matter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3227832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530352" y="330098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button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200400" y="3227832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273552" y="330098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943600" y="3227832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6016752" y="330098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 div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57200" y="3703320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42" name="Text 40"/>
          <p:cNvSpPr/>
          <p:nvPr/>
        </p:nvSpPr>
        <p:spPr>
          <a:xfrm>
            <a:off x="530352" y="37764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header/main/nav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3200400" y="3703320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44" name="Text 42"/>
          <p:cNvSpPr/>
          <p:nvPr/>
        </p:nvSpPr>
        <p:spPr>
          <a:xfrm>
            <a:off x="3273552" y="37764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5943600" y="3703320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46" name="Text 44"/>
          <p:cNvSpPr/>
          <p:nvPr/>
        </p:nvSpPr>
        <p:spPr>
          <a:xfrm>
            <a:off x="6016752" y="37764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 than only div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I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CSS — presentation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Selectors · box model · layout</a:t>
            </a:r>
            <a:endParaRPr lang="en-US" sz="15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CSS = how it looks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8229600" cy="2011680"/>
          </a:xfrm>
          <a:prstGeom prst="roundRect">
            <a:avLst>
              <a:gd name="adj" fmla="val 3636"/>
            </a:avLst>
          </a:prstGeom>
          <a:solidFill>
            <a:srgbClr val="1E2A32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188720"/>
            <a:ext cx="79095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{ color: #1a2421; font-size: 16px;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.card { padding: 16px; border-radius: 8px; 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#logo { width: 48px; 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element selector · .class selector · #id selector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Box model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201168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20116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Margin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5603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Outside space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606040" y="1645920"/>
            <a:ext cx="201168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2606040" y="20116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Border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606040" y="25603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line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54880" y="1645920"/>
            <a:ext cx="201168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20116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Padding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754880" y="25603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Inside space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903720" y="1645920"/>
            <a:ext cx="2011680" cy="1828800"/>
          </a:xfrm>
          <a:prstGeom prst="roundRect">
            <a:avLst>
              <a:gd name="adj" fmla="val 5000"/>
            </a:avLst>
          </a:prstGeom>
          <a:solidFill>
            <a:srgbClr val="0B3D2E"/>
          </a:solidFill>
          <a:ln/>
        </p:spPr>
      </p:sp>
      <p:sp>
        <p:nvSpPr>
          <p:cNvPr id="15" name="Text 13"/>
          <p:cNvSpPr/>
          <p:nvPr/>
        </p:nvSpPr>
        <p:spPr>
          <a:xfrm>
            <a:off x="6903720" y="20116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903720" y="25603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Text/image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Layout tools you’ll hear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Flexbox — row/column alignment (nav bars, centering)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Grid — two-dimensional sections / cards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 queries — different CSS under a max-width (mobile)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bar: 16px+ body, contrast, spacing, obvious primary button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J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JavaScript — behavior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· DOM · events · fetch · npm</a:t>
            </a:r>
            <a:endParaRPr lang="en-US" sz="15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 · CSS · JS roles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" y="1371600"/>
            <a:ext cx="265176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828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25603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(nouns)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474720" y="1371600"/>
            <a:ext cx="2651760" cy="256032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3474720" y="1828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657600" y="25603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(adjectives)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309360" y="1371600"/>
            <a:ext cx="2651760" cy="2560320"/>
          </a:xfrm>
          <a:prstGeom prst="roundRect">
            <a:avLst>
              <a:gd name="adj" fmla="val 3571"/>
            </a:avLst>
          </a:prstGeom>
          <a:solidFill>
            <a:srgbClr val="0B3D2E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182880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JavaScript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92240" y="25603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(verbs)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→ render → events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= data that describes the app right now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(score, current question, isRunning…)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 should be a projection of state.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1E2A32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2331720"/>
            <a:ext cx="7909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let count = 0;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btn.addEventListener("click", () =&gt; { count += 1; render(); });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render() { out.textContent = String(count); }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Node.js &amp; npm (recognition)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Node.js runs JavaScript outside the browser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 installs packages listed in package.json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 install — download dependencies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npm run dev — often starts the dev server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may run these; you should know the words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K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— backend foundations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· venv · status codes</a:t>
            </a:r>
            <a:endParaRPr lang="en-US" sz="15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Python appears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Readable language for backends and automation.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Flask/FastAPI turn functions into web APIs.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1E2A32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2331720"/>
            <a:ext cx="7909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greet(name):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f"Hello, {name}!"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print(greet("Asha"))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flow (full-stack)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28600" y="1737360"/>
            <a:ext cx="1371600" cy="164592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214884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691640" y="1737360"/>
            <a:ext cx="1371600" cy="1645920"/>
          </a:xfrm>
          <a:prstGeom prst="roundRect">
            <a:avLst>
              <a:gd name="adj" fmla="val 5333"/>
            </a:avLst>
          </a:prstGeom>
          <a:solidFill>
            <a:srgbClr val="0B3D2E"/>
          </a:solidFill>
          <a:ln/>
        </p:spPr>
      </p:sp>
      <p:sp>
        <p:nvSpPr>
          <p:cNvPr id="8" name="Text 6"/>
          <p:cNvSpPr/>
          <p:nvPr/>
        </p:nvSpPr>
        <p:spPr>
          <a:xfrm>
            <a:off x="1737360" y="214884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54680" y="1737360"/>
            <a:ext cx="1371600" cy="164592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3200400" y="214884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17720" y="1737360"/>
            <a:ext cx="1371600" cy="1645920"/>
          </a:xfrm>
          <a:prstGeom prst="roundRect">
            <a:avLst>
              <a:gd name="adj" fmla="val 5333"/>
            </a:avLst>
          </a:prstGeom>
          <a:solidFill>
            <a:srgbClr val="0B3D2E"/>
          </a:solidFill>
          <a:ln/>
        </p:spPr>
      </p:sp>
      <p:sp>
        <p:nvSpPr>
          <p:cNvPr id="12" name="Text 10"/>
          <p:cNvSpPr/>
          <p:nvPr/>
        </p:nvSpPr>
        <p:spPr>
          <a:xfrm>
            <a:off x="4663440" y="214884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 read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/write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80760" y="1737360"/>
            <a:ext cx="1371600" cy="164592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6126480" y="214884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543800" y="1737360"/>
            <a:ext cx="1371600" cy="1645920"/>
          </a:xfrm>
          <a:prstGeom prst="roundRect">
            <a:avLst>
              <a:gd name="adj" fmla="val 5333"/>
            </a:avLst>
          </a:prstGeom>
          <a:solidFill>
            <a:srgbClr val="0B3D2E"/>
          </a:solidFill>
          <a:ln/>
        </p:spPr>
      </p:sp>
      <p:sp>
        <p:nvSpPr>
          <p:cNvPr id="16" name="Text 14"/>
          <p:cNvSpPr/>
          <p:nvPr/>
        </p:nvSpPr>
        <p:spPr>
          <a:xfrm>
            <a:off x="7589520" y="214884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 updates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status codes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2697480" cy="411480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6" name="Text 4"/>
          <p:cNvSpPr/>
          <p:nvPr/>
        </p:nvSpPr>
        <p:spPr>
          <a:xfrm>
            <a:off x="530352" y="93268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0" y="868680"/>
            <a:ext cx="2697480" cy="411480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8" name="Text 6"/>
          <p:cNvSpPr/>
          <p:nvPr/>
        </p:nvSpPr>
        <p:spPr>
          <a:xfrm>
            <a:off x="3273552" y="93268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Meaning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943600" y="868680"/>
            <a:ext cx="2697480" cy="411480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10" name="Text 8"/>
          <p:cNvSpPr/>
          <p:nvPr/>
        </p:nvSpPr>
        <p:spPr>
          <a:xfrm>
            <a:off x="6016752" y="93268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 cause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325880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530352" y="139903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0" y="1325880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3273552" y="139903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43600" y="1325880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6016752" y="139903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Successful read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1801368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1874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00400" y="1801368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20" name="Text 18"/>
          <p:cNvSpPr/>
          <p:nvPr/>
        </p:nvSpPr>
        <p:spPr>
          <a:xfrm>
            <a:off x="3273552" y="1874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Created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943600" y="1801368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22" name="Text 20"/>
          <p:cNvSpPr/>
          <p:nvPr/>
        </p:nvSpPr>
        <p:spPr>
          <a:xfrm>
            <a:off x="6016752" y="1874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Successful create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2276856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530352" y="235000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200400" y="2276856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3273552" y="235000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 request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943600" y="2276856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6016752" y="235000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Invalid input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2752344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30" name="Text 28"/>
          <p:cNvSpPr/>
          <p:nvPr/>
        </p:nvSpPr>
        <p:spPr>
          <a:xfrm>
            <a:off x="530352" y="2825496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401/403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200400" y="2752344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32" name="Text 30"/>
          <p:cNvSpPr/>
          <p:nvPr/>
        </p:nvSpPr>
        <p:spPr>
          <a:xfrm>
            <a:off x="3273552" y="2825496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problems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943600" y="2752344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34" name="Text 32"/>
          <p:cNvSpPr/>
          <p:nvPr/>
        </p:nvSpPr>
        <p:spPr>
          <a:xfrm>
            <a:off x="6016752" y="2825496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logged in / not allowed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3227832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530352" y="330098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404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200400" y="3227832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/>
          <p:nvPr/>
        </p:nvSpPr>
        <p:spPr>
          <a:xfrm>
            <a:off x="3273552" y="330098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found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5943600" y="3227832"/>
            <a:ext cx="26974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6016752" y="330098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path/id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57200" y="3703320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42" name="Text 40"/>
          <p:cNvSpPr/>
          <p:nvPr/>
        </p:nvSpPr>
        <p:spPr>
          <a:xfrm>
            <a:off x="530352" y="37764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3200400" y="3703320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44" name="Text 42"/>
          <p:cNvSpPr/>
          <p:nvPr/>
        </p:nvSpPr>
        <p:spPr>
          <a:xfrm>
            <a:off x="3273552" y="37764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error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5943600" y="3703320"/>
            <a:ext cx="26974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46" name="Text 44"/>
          <p:cNvSpPr/>
          <p:nvPr/>
        </p:nvSpPr>
        <p:spPr>
          <a:xfrm>
            <a:off x="6016752" y="377647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 on server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— version control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Commits · branches · .gitignore</a:t>
            </a:r>
            <a:endParaRPr lang="en-US" sz="15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Git solves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Git: final2_really_final.zip chaos.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Git: labeled snapshots, history, collaboration, recovery.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3017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≠ GitHub   ·   Git is the system   ·   GitHub hosts repos online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vocabulary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4069080" cy="411480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6" name="Text 4"/>
          <p:cNvSpPr/>
          <p:nvPr/>
        </p:nvSpPr>
        <p:spPr>
          <a:xfrm>
            <a:off x="530352" y="93268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0" y="868680"/>
            <a:ext cx="4069080" cy="411480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8" name="Text 6"/>
          <p:cNvSpPr/>
          <p:nvPr/>
        </p:nvSpPr>
        <p:spPr>
          <a:xfrm>
            <a:off x="4645152" y="93268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 meaning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325880"/>
            <a:ext cx="4069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139903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Repository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0" y="1325880"/>
            <a:ext cx="4069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4645152" y="139903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tracked by Git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1801368"/>
            <a:ext cx="40690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18745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0" y="1801368"/>
            <a:ext cx="40690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16" name="Text 14"/>
          <p:cNvSpPr/>
          <p:nvPr/>
        </p:nvSpPr>
        <p:spPr>
          <a:xfrm>
            <a:off x="4645152" y="18745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Snapshot + message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276856"/>
            <a:ext cx="4069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235000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(add)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0" y="2276856"/>
            <a:ext cx="4069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4645152" y="235000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 files for next commit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2752344"/>
            <a:ext cx="40690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282549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0" y="2752344"/>
            <a:ext cx="40690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24" name="Text 22"/>
          <p:cNvSpPr/>
          <p:nvPr/>
        </p:nvSpPr>
        <p:spPr>
          <a:xfrm>
            <a:off x="4645152" y="2825496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Parallel line of work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227832"/>
            <a:ext cx="4069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530352" y="330098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Remote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0" y="3227832"/>
            <a:ext cx="406908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4645152" y="330098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Hosted copy (often GitHub)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3703320"/>
            <a:ext cx="40690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30" name="Text 28"/>
          <p:cNvSpPr/>
          <p:nvPr/>
        </p:nvSpPr>
        <p:spPr>
          <a:xfrm>
            <a:off x="530352" y="377647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/ Pull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0" y="3703320"/>
            <a:ext cx="4069080" cy="438912"/>
          </a:xfrm>
          <a:prstGeom prst="rect">
            <a:avLst/>
          </a:prstGeom>
          <a:solidFill>
            <a:srgbClr val="EEF2F0"/>
          </a:solidFill>
          <a:ln/>
        </p:spPr>
      </p:sp>
      <p:sp>
        <p:nvSpPr>
          <p:cNvPr id="32" name="Text 30"/>
          <p:cNvSpPr/>
          <p:nvPr/>
        </p:nvSpPr>
        <p:spPr>
          <a:xfrm>
            <a:off x="4645152" y="377647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/ download commits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Git loop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2194560"/>
          </a:xfrm>
          <a:prstGeom prst="roundRect">
            <a:avLst>
              <a:gd name="adj" fmla="val 3333"/>
            </a:avLst>
          </a:prstGeom>
          <a:solidFill>
            <a:srgbClr val="1E2A32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234440"/>
            <a:ext cx="79095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status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add 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commit -m "Add login form validation"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push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ask Claude: “Show changes. Commit with a clear message. Do not push yet.”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.gitignore — security gate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31520" y="1188720"/>
            <a:ext cx="7680960" cy="2926080"/>
          </a:xfrm>
          <a:prstGeom prst="roundRect">
            <a:avLst>
              <a:gd name="adj" fmla="val 3125"/>
            </a:avLst>
          </a:prstGeom>
          <a:solidFill>
            <a:srgbClr val="FDEDEC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1554480"/>
            <a:ext cx="69494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commit .env or API keys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Ignore node_modules/ and Python venv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git status before every push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secret leaked: revoke key + create new one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M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complete guide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 · push · README · PR · portfolio</a:t>
            </a:r>
            <a:endParaRPr lang="en-US" sz="15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GitHub adds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backup of your repository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 of public work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Issues for task tracking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Requests for review/merge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Actions for automation (later)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push path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914400"/>
            <a:ext cx="411480" cy="41148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96012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188720" y="94183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GitHub account + 2FA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1508760"/>
            <a:ext cx="411480" cy="41148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55448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88720" y="153619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 empty repo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2103120"/>
            <a:ext cx="411480" cy="41148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214884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88720" y="213055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remote add origin …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2697480"/>
            <a:ext cx="411480" cy="41148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274320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88720" y="272491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Authenticate (gh auth login)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48640" y="3291840"/>
            <a:ext cx="411480" cy="41148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333756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88720" y="33192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push -u origin main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48640" y="3886200"/>
            <a:ext cx="411480" cy="41148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3931920"/>
            <a:ext cx="411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188720" y="391363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 a real README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README quality bar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app does (1–2 sentences)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Screenshot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 list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stack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+ run steps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 var NAMES (not secret values)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 URL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 name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Request concept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 proposes merging one branch’s changes into another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(with discussion and review).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822960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69748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solo: use branches + PRs to practice professional workflow.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can draft PR text and run /code-review on the diff.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path &amp; full-stack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 · milestones · vertical slices</a:t>
            </a:r>
            <a:endParaRPr lang="en-US" sz="15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ladder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28600" y="1371600"/>
            <a:ext cx="1188720" cy="265176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228600" y="16002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74320" y="219456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Hello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74320" y="32004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490472" y="1371600"/>
            <a:ext cx="1188720" cy="265176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490472" y="16002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36192" y="219456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536192" y="32004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HTML/CSS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52344" y="1371600"/>
            <a:ext cx="1188720" cy="265176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2752344" y="16002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798064" y="219456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798064" y="32004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014216" y="1371600"/>
            <a:ext cx="1188720" cy="265176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4014216" y="16002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059936" y="219456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059936" y="32004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276088" y="1371600"/>
            <a:ext cx="1188720" cy="265176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5276088" y="16002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321808" y="219456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API+UI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1808" y="32004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537960" y="1371600"/>
            <a:ext cx="1188720" cy="265176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6537960" y="16002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583680" y="219456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583680" y="32004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799832" y="1371600"/>
            <a:ext cx="1188720" cy="2651760"/>
          </a:xfrm>
          <a:prstGeom prst="roundRect">
            <a:avLst>
              <a:gd name="adj" fmla="val 6154"/>
            </a:avLst>
          </a:prstGeom>
          <a:solidFill>
            <a:srgbClr val="0B3D2E"/>
          </a:solidFill>
          <a:ln/>
        </p:spPr>
      </p:sp>
      <p:sp>
        <p:nvSpPr>
          <p:cNvPr id="30" name="Text 28"/>
          <p:cNvSpPr/>
          <p:nvPr/>
        </p:nvSpPr>
        <p:spPr>
          <a:xfrm>
            <a:off x="7799832" y="16002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7845552" y="219456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Capstone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845552" y="320040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 rule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371600" y="914400"/>
            <a:ext cx="64008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645920" y="100584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/plan milestone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371600" y="1508760"/>
            <a:ext cx="64008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645920" y="16002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Approve plan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371600" y="2103120"/>
            <a:ext cx="64008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1645920" y="219456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Implement only that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371600" y="2697480"/>
            <a:ext cx="64008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1645920" y="278892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Verify yourself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371600" y="3291840"/>
            <a:ext cx="64008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645920" y="338328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 Commit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1371600" y="3886200"/>
            <a:ext cx="640080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1645920" y="397764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 Next milestone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O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· security · demo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URL · env vars · 5-min talk</a:t>
            </a:r>
            <a:endParaRPr lang="en-US" sz="15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means…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 the app from “only on my laptop”</a:t>
            </a:r>
            <a:endParaRPr lang="en-US" sz="2400" dirty="0"/>
          </a:p>
          <a:p>
            <a:pPr indent="0" marL="0">
              <a:buNone/>
            </a:pPr>
            <a:r>
              <a:rPr lang="en-US" sz="2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“anyone with the link can use it.”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3017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Configure: build · start · env vars · database · URL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local works but production fails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 vars set locally but not on the host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URL still points to localhost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Dev-only setup missing in production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Wrong runtime version</a:t>
            </a:r>
            <a:endParaRPr lang="en-US" sz="1700" dirty="0"/>
          </a:p>
          <a:p>
            <a:pPr marL="342900" indent="-342900">
              <a:buSzPct val="100000"/>
              <a:buChar char="•"/>
            </a:pPr>
            <a:r>
              <a:rPr lang="en-US" sz="17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CORS / networking misconfig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day — 5 minutes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097280" y="1005840"/>
            <a:ext cx="694944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11704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0:30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474720" y="11704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&amp; user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097280" y="1828800"/>
            <a:ext cx="694944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1371600" y="199339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2–3 min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474720" y="199339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happy path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097280" y="2651760"/>
            <a:ext cx="694944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1371600" y="281635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min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474720" y="281635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decisions YOU made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097280" y="3474720"/>
            <a:ext cx="694944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1371600" y="363931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0:30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474720" y="363931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What’s next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46B4F"/>
          </a:solidFill>
          <a:ln/>
        </p:spPr>
      </p:sp>
      <p:sp>
        <p:nvSpPr>
          <p:cNvPr id="3" name="Shape 1"/>
          <p:cNvSpPr/>
          <p:nvPr/>
        </p:nvSpPr>
        <p:spPr>
          <a:xfrm>
            <a:off x="6949440" y="-914400"/>
            <a:ext cx="3474720" cy="3474720"/>
          </a:xfrm>
          <a:prstGeom prst="ellipse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02920" y="187452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tools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2920" y="31546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Stuck protocol · command strip · docs</a:t>
            </a:r>
            <a:endParaRPr lang="en-US" sz="15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3-minute stuck protocol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1554480"/>
            <a:ext cx="2057400" cy="21031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18288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75488" y="24688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Say what you tried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560320" y="1554480"/>
            <a:ext cx="2057400" cy="21031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2560320" y="18288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670048" y="24688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Copy exact error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754880" y="1554480"/>
            <a:ext cx="2057400" cy="21031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18288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A9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864608" y="24688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Bug template → Claude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949440" y="1554480"/>
            <a:ext cx="2057400" cy="2103120"/>
          </a:xfrm>
          <a:prstGeom prst="roundRect">
            <a:avLst>
              <a:gd name="adj" fmla="val 4444"/>
            </a:avLst>
          </a:prstGeom>
          <a:solidFill>
            <a:srgbClr val="0B3D2E"/>
          </a:solidFill>
          <a:ln/>
        </p:spPr>
      </p:sp>
      <p:sp>
        <p:nvSpPr>
          <p:cNvPr id="15" name="Text 13"/>
          <p:cNvSpPr/>
          <p:nvPr/>
        </p:nvSpPr>
        <p:spPr>
          <a:xfrm>
            <a:off x="6949440" y="18288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7059168" y="24688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stuck? Ask human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 strip (memorize)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3017520"/>
          </a:xfrm>
          <a:prstGeom prst="roundRect">
            <a:avLst>
              <a:gd name="adj" fmla="val 2424"/>
            </a:avLst>
          </a:prstGeom>
          <a:solidFill>
            <a:srgbClr val="1E2A32"/>
          </a:solidFill>
          <a:ln/>
        </p:spPr>
      </p:sp>
      <p:sp>
        <p:nvSpPr>
          <p:cNvPr id="6" name="Text 4"/>
          <p:cNvSpPr/>
          <p:nvPr/>
        </p:nvSpPr>
        <p:spPr>
          <a:xfrm>
            <a:off x="621792" y="1234440"/>
            <a:ext cx="79095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/help  /login  /doctor  /init  /plan  /clear  /compact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/diff  /rewind  /resume  /code-review  /security-review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status → add → commit → push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7DD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--version   ·   claude doctor   ·   claude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7F3E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2801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Companion documents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" y="960120"/>
            <a:ext cx="786384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12471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 Teaching Guide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0" y="112471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explanations Parts 1–28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1783080"/>
            <a:ext cx="786384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194767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Study Book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0" y="194767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Chapters + practice answers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2606040"/>
            <a:ext cx="786384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77063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2 Workshops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0" y="277063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deep hands-on labs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3429000"/>
            <a:ext cx="786384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593592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6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slides (Ed. 2)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029200" y="359359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Classroom projection deck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11480" y="4828032"/>
            <a:ext cx="8321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Coding with Claude Code · CA Shailesh S Wadhawaniya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3D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FA97A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1645920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Explain. Direct. Verify. Ship.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94360" y="2651760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DDE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 → PRD → Claude Code → app → GitHub → public URL → demo.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94360" y="374904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7F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Edition 2 slides — matched to the deep teaching guides.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72</Slides>
  <Notes>72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7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Vibe Coding with Claude Code — Module Slides</dc:title>
  <dc:subject>PptxGenJS Presentation</dc:subject>
  <dc:creator>CA Shailesh S Wadhawaniya</dc:creator>
  <cp:lastModifiedBy>CA Shailesh S Wadhawaniya</cp:lastModifiedBy>
  <cp:revision>1</cp:revision>
  <dcterms:created xsi:type="dcterms:W3CDTF">2026-07-13T01:31:13Z</dcterms:created>
  <dcterms:modified xsi:type="dcterms:W3CDTF">2026-07-13T01:31:13Z</dcterms:modified>
</cp:coreProperties>
</file>